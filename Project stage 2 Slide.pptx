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5" r:id="rId4"/>
    <p:sldId id="288" r:id="rId5"/>
    <p:sldId id="286" r:id="rId6"/>
    <p:sldId id="260" r:id="rId7"/>
    <p:sldId id="281" r:id="rId8"/>
    <p:sldId id="282" r:id="rId9"/>
    <p:sldId id="289" r:id="rId10"/>
    <p:sldId id="290" r:id="rId11"/>
    <p:sldId id="275" r:id="rId12"/>
    <p:sldId id="271" r:id="rId13"/>
    <p:sldId id="268" r:id="rId14"/>
    <p:sldId id="292" r:id="rId15"/>
    <p:sldId id="291" r:id="rId16"/>
    <p:sldId id="287" r:id="rId17"/>
    <p:sldId id="283" r:id="rId18"/>
    <p:sldId id="272" r:id="rId19"/>
    <p:sldId id="257" r:id="rId20"/>
    <p:sldId id="264" r:id="rId21"/>
  </p:sldIdLst>
  <p:sldSz cx="18288000" cy="10287000"/>
  <p:notesSz cx="6858000" cy="9144000"/>
  <p:embeddedFontLst>
    <p:embeddedFont>
      <p:font typeface="字由点字典黑 35J" panose="02010600030101010101" charset="-122"/>
      <p:regular r:id="rId22"/>
    </p:embeddedFont>
    <p:embeddedFont>
      <p:font typeface="字由点字典黑 45J" panose="02010600030101010101" charset="-122"/>
      <p:regular r:id="rId23"/>
    </p:embeddedFont>
    <p:embeddedFont>
      <p:font typeface="字由点字典黑 45J Italics" panose="02010600030101010101" charset="-122"/>
      <p:regular r:id="rId24"/>
    </p:embeddedFont>
    <p:embeddedFont>
      <p:font typeface="字由点字典黑 75J" panose="02010600030101010101" charset="-122"/>
      <p:regular r:id="rId25"/>
    </p:embeddedFont>
    <p:embeddedFont>
      <p:font typeface="Arial Black" panose="020B0A04020102020204" pitchFamily="34" charset="0"/>
      <p:bold r:id="rId26"/>
    </p:embeddedFont>
    <p:embeddedFont>
      <p:font typeface="Arimo" panose="02010600030101010101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1" autoAdjust="0"/>
    <p:restoredTop sz="95026" autoAdjust="0"/>
  </p:normalViewPr>
  <p:slideViewPr>
    <p:cSldViewPr>
      <p:cViewPr varScale="1">
        <p:scale>
          <a:sx n="56" d="100"/>
          <a:sy n="56" d="100"/>
        </p:scale>
        <p:origin x="104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2237970" y="2369909"/>
            <a:ext cx="6217820" cy="9525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2644457" y="2170055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246036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701672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3" name="TextBox 73"/>
          <p:cNvSpPr txBox="1"/>
          <p:nvPr/>
        </p:nvSpPr>
        <p:spPr>
          <a:xfrm>
            <a:off x="6456004" y="8287891"/>
            <a:ext cx="976318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22207232 Qiyue Zhu</a:t>
            </a:r>
          </a:p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11/30/2024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456004" y="6930147"/>
            <a:ext cx="97631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 dirty="0">
                <a:solidFill>
                  <a:srgbClr val="373737"/>
                </a:solidFill>
                <a:latin typeface="字由点字典黑 45J Italics"/>
                <a:ea typeface="字由点字典黑 45J Italics"/>
                <a:cs typeface="字由点字典黑 45J Italics"/>
                <a:sym typeface="字由点字典黑 45J Italics"/>
              </a:rPr>
              <a:t>Personalized your own recipes and digital fridge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5F1ED70-E80F-0A59-79A7-B53C02695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23" y="1866503"/>
            <a:ext cx="4715954" cy="4715954"/>
          </a:xfrm>
          <a:prstGeom prst="rect">
            <a:avLst/>
          </a:prstGeom>
        </p:spPr>
      </p:pic>
      <p:sp>
        <p:nvSpPr>
          <p:cNvPr id="76" name="TextBox 62">
            <a:extLst>
              <a:ext uri="{FF2B5EF4-FFF2-40B4-BE49-F238E27FC236}">
                <a16:creationId xmlns:a16="http://schemas.microsoft.com/office/drawing/2014/main" id="{9BDE5E64-3F79-8C8D-85E8-27C8D4F6CFA5}"/>
              </a:ext>
            </a:extLst>
          </p:cNvPr>
          <p:cNvSpPr txBox="1"/>
          <p:nvPr/>
        </p:nvSpPr>
        <p:spPr>
          <a:xfrm>
            <a:off x="4191000" y="5659822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4114800" y="723900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The Chosen App: </a:t>
            </a: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8F4A346-65F5-19C5-D8B7-ADE3E63CF0C6}"/>
              </a:ext>
            </a:extLst>
          </p:cNvPr>
          <p:cNvGrpSpPr/>
          <p:nvPr/>
        </p:nvGrpSpPr>
        <p:grpSpPr>
          <a:xfrm>
            <a:off x="1047370" y="1866901"/>
            <a:ext cx="16631030" cy="5515921"/>
            <a:chOff x="1047370" y="1866901"/>
            <a:chExt cx="16631030" cy="5715000"/>
          </a:xfrm>
        </p:grpSpPr>
        <p:sp>
          <p:nvSpPr>
            <p:cNvPr id="60" name="Freeform 60"/>
            <p:cNvSpPr/>
            <p:nvPr/>
          </p:nvSpPr>
          <p:spPr>
            <a:xfrm>
              <a:off x="1047370" y="1866901"/>
              <a:ext cx="11544300" cy="5715000"/>
            </a:xfrm>
            <a:custGeom>
              <a:avLst/>
              <a:gdLst/>
              <a:ahLst/>
              <a:cxnLst/>
              <a:rect l="l" t="t" r="r" b="b"/>
              <a:pathLst>
                <a:path w="9356968" h="4532484">
                  <a:moveTo>
                    <a:pt x="0" y="0"/>
                  </a:moveTo>
                  <a:lnTo>
                    <a:pt x="9356968" y="0"/>
                  </a:lnTo>
                  <a:lnTo>
                    <a:pt x="9356968" y="4532484"/>
                  </a:lnTo>
                  <a:lnTo>
                    <a:pt x="0" y="4532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6" t="-15067" r="-3287" b="-19746"/>
              </a:stretch>
            </a:blipFill>
          </p:spPr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DD7F8C6-B759-1413-F7A7-7B0788571358}"/>
                </a:ext>
              </a:extLst>
            </p:cNvPr>
            <p:cNvSpPr txBox="1"/>
            <p:nvPr/>
          </p:nvSpPr>
          <p:spPr>
            <a:xfrm>
              <a:off x="12877800" y="2785409"/>
              <a:ext cx="4800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A beautiful UI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Share recipes like Instagram, you can like and comment, and receive notifications when someone like</a:t>
              </a:r>
              <a:r>
                <a:rPr lang="en-US" altLang="zh-CN" sz="2400" dirty="0"/>
                <a:t>s</a:t>
              </a:r>
              <a:r>
                <a:rPr lang="en-GB" sz="2400" dirty="0"/>
                <a:t> or comments on your post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19AF5DC-9159-B128-7169-9F6BF5BD2498}"/>
              </a:ext>
            </a:extLst>
          </p:cNvPr>
          <p:cNvGrpSpPr/>
          <p:nvPr/>
        </p:nvGrpSpPr>
        <p:grpSpPr>
          <a:xfrm>
            <a:off x="1681042" y="4991100"/>
            <a:ext cx="15187583" cy="5139873"/>
            <a:chOff x="1681042" y="4991100"/>
            <a:chExt cx="15187583" cy="5139873"/>
          </a:xfrm>
        </p:grpSpPr>
        <p:sp>
          <p:nvSpPr>
            <p:cNvPr id="61" name="Freeform 61"/>
            <p:cNvSpPr/>
            <p:nvPr/>
          </p:nvSpPr>
          <p:spPr>
            <a:xfrm>
              <a:off x="6819520" y="4991100"/>
              <a:ext cx="10049105" cy="4857437"/>
            </a:xfrm>
            <a:custGeom>
              <a:avLst/>
              <a:gdLst/>
              <a:ahLst/>
              <a:cxnLst/>
              <a:rect l="l" t="t" r="r" b="b"/>
              <a:pathLst>
                <a:path w="8922793" h="4333467">
                  <a:moveTo>
                    <a:pt x="0" y="0"/>
                  </a:moveTo>
                  <a:lnTo>
                    <a:pt x="8922793" y="0"/>
                  </a:lnTo>
                  <a:lnTo>
                    <a:pt x="8922793" y="4333467"/>
                  </a:lnTo>
                  <a:lnTo>
                    <a:pt x="0" y="433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2" t="-18410" r="-4625" b="-20320"/>
              </a:stretch>
            </a:blipFill>
          </p:spPr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EFE8DBA-7F7B-E8C7-E27B-11EA8D3CD662}"/>
                </a:ext>
              </a:extLst>
            </p:cNvPr>
            <p:cNvSpPr txBox="1"/>
            <p:nvPr/>
          </p:nvSpPr>
          <p:spPr>
            <a:xfrm>
              <a:off x="1681042" y="7453317"/>
              <a:ext cx="486751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Edit </a:t>
              </a:r>
              <a:r>
                <a:rPr lang="en-US" altLang="zh-CN" sz="2400" dirty="0"/>
                <a:t>your own </a:t>
              </a:r>
              <a:r>
                <a:rPr lang="en-GB" sz="2400" dirty="0"/>
                <a:t>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Search 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Suggest the trending recipes or popular categories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Support QR Code scanning to find recipes and user accounts</a:t>
              </a:r>
            </a:p>
            <a:p>
              <a:endParaRPr lang="en-GB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74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560A555-4FB4-DC15-9EF8-9F43B330BB05}"/>
              </a:ext>
            </a:extLst>
          </p:cNvPr>
          <p:cNvGrpSpPr/>
          <p:nvPr/>
        </p:nvGrpSpPr>
        <p:grpSpPr>
          <a:xfrm>
            <a:off x="1472881" y="5793490"/>
            <a:ext cx="3159888" cy="2158775"/>
            <a:chOff x="1472881" y="5793490"/>
            <a:chExt cx="3159888" cy="2158775"/>
          </a:xfrm>
        </p:grpSpPr>
        <p:sp>
          <p:nvSpPr>
            <p:cNvPr id="62" name="Freeform 62"/>
            <p:cNvSpPr/>
            <p:nvPr/>
          </p:nvSpPr>
          <p:spPr>
            <a:xfrm>
              <a:off x="2622740" y="5793490"/>
              <a:ext cx="860191" cy="860191"/>
            </a:xfrm>
            <a:custGeom>
              <a:avLst/>
              <a:gdLst/>
              <a:ahLst/>
              <a:cxnLst/>
              <a:rect l="l" t="t" r="r" b="b"/>
              <a:pathLst>
                <a:path w="860191" h="860191">
                  <a:moveTo>
                    <a:pt x="0" y="0"/>
                  </a:moveTo>
                  <a:lnTo>
                    <a:pt x="860191" y="0"/>
                  </a:lnTo>
                  <a:lnTo>
                    <a:pt x="860191" y="860191"/>
                  </a:lnTo>
                  <a:lnTo>
                    <a:pt x="0" y="860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1472881" y="6849399"/>
              <a:ext cx="3159888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字由点字典黑 75J"/>
                  <a:ea typeface="字由点字典黑 75J"/>
                  <a:cs typeface="字由点字典黑 75J"/>
                  <a:sym typeface="字由点字典黑 75J"/>
                </a:rPr>
                <a:t>ALPHA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字由点字典黑 75J"/>
                  <a:ea typeface="字由点字典黑 75J"/>
                  <a:cs typeface="字由点字典黑 75J"/>
                  <a:sym typeface="字由点字典黑 75J"/>
                </a:rPr>
                <a:t>SUBMISSION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8711456" y="2926694"/>
            <a:ext cx="860191" cy="860191"/>
          </a:xfrm>
          <a:custGeom>
            <a:avLst/>
            <a:gdLst/>
            <a:ahLst/>
            <a:cxnLst/>
            <a:rect l="l" t="t" r="r" b="b"/>
            <a:pathLst>
              <a:path w="860191" h="860191">
                <a:moveTo>
                  <a:pt x="0" y="0"/>
                </a:moveTo>
                <a:lnTo>
                  <a:pt x="860191" y="0"/>
                </a:lnTo>
                <a:lnTo>
                  <a:pt x="860191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4352231" y="5793490"/>
            <a:ext cx="890970" cy="860191"/>
          </a:xfrm>
          <a:custGeom>
            <a:avLst/>
            <a:gdLst/>
            <a:ahLst/>
            <a:cxnLst/>
            <a:rect l="l" t="t" r="r" b="b"/>
            <a:pathLst>
              <a:path w="890970" h="860191">
                <a:moveTo>
                  <a:pt x="0" y="0"/>
                </a:moveTo>
                <a:lnTo>
                  <a:pt x="890970" y="0"/>
                </a:lnTo>
                <a:lnTo>
                  <a:pt x="890970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1790700" y="1067129"/>
            <a:ext cx="569828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Timeline</a:t>
            </a:r>
          </a:p>
        </p:txBody>
      </p:sp>
      <p:sp>
        <p:nvSpPr>
          <p:cNvPr id="68" name="AutoShape 68"/>
          <p:cNvSpPr/>
          <p:nvPr/>
        </p:nvSpPr>
        <p:spPr>
          <a:xfrm>
            <a:off x="1028700" y="5305425"/>
            <a:ext cx="16524748" cy="0"/>
          </a:xfrm>
          <a:prstGeom prst="line">
            <a:avLst/>
          </a:prstGeom>
          <a:ln w="19050" cap="rnd">
            <a:solidFill>
              <a:srgbClr val="04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9" name="Group 69"/>
          <p:cNvGrpSpPr/>
          <p:nvPr/>
        </p:nvGrpSpPr>
        <p:grpSpPr>
          <a:xfrm>
            <a:off x="8995085" y="5171907"/>
            <a:ext cx="292955" cy="292955"/>
            <a:chOff x="0" y="0"/>
            <a:chExt cx="847022" cy="84702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2906358" y="5158948"/>
            <a:ext cx="292955" cy="292955"/>
            <a:chOff x="0" y="0"/>
            <a:chExt cx="847022" cy="84702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4651249" y="5171907"/>
            <a:ext cx="292955" cy="292955"/>
            <a:chOff x="0" y="0"/>
            <a:chExt cx="847022" cy="84702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sp>
        <p:nvSpPr>
          <p:cNvPr id="77" name="TextBox 77"/>
          <p:cNvSpPr txBox="1"/>
          <p:nvPr/>
        </p:nvSpPr>
        <p:spPr>
          <a:xfrm>
            <a:off x="1364274" y="3551354"/>
            <a:ext cx="3647528" cy="13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Set up the new basic pages and layout of the digital fridge page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585617" y="3517272"/>
            <a:ext cx="4424221" cy="134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Add an API that enables users to scan barcodes or items to add new items more easily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317788" y="3949866"/>
            <a:ext cx="364752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BETA</a:t>
            </a:r>
          </a:p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SUBMISSION</a:t>
            </a:r>
          </a:p>
        </p:txBody>
      </p:sp>
      <p:sp>
        <p:nvSpPr>
          <p:cNvPr id="84" name="Freeform 28">
            <a:extLst>
              <a:ext uri="{FF2B5EF4-FFF2-40B4-BE49-F238E27FC236}">
                <a16:creationId xmlns:a16="http://schemas.microsoft.com/office/drawing/2014/main" id="{AB2F3649-7BE0-5981-A438-5083BBFCA784}"/>
              </a:ext>
            </a:extLst>
          </p:cNvPr>
          <p:cNvSpPr/>
          <p:nvPr/>
        </p:nvSpPr>
        <p:spPr>
          <a:xfrm rot="736078">
            <a:off x="10341289" y="4533646"/>
            <a:ext cx="963180" cy="915952"/>
          </a:xfrm>
          <a:custGeom>
            <a:avLst/>
            <a:gdLst/>
            <a:ahLst/>
            <a:cxnLst/>
            <a:rect l="l" t="t" r="r" b="b"/>
            <a:pathLst>
              <a:path w="963180" h="915952">
                <a:moveTo>
                  <a:pt x="0" y="0"/>
                </a:moveTo>
                <a:lnTo>
                  <a:pt x="963180" y="0"/>
                </a:lnTo>
                <a:lnTo>
                  <a:pt x="963180" y="915952"/>
                </a:lnTo>
                <a:lnTo>
                  <a:pt x="0" y="9159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86" name="TextBox 81">
            <a:extLst>
              <a:ext uri="{FF2B5EF4-FFF2-40B4-BE49-F238E27FC236}">
                <a16:creationId xmlns:a16="http://schemas.microsoft.com/office/drawing/2014/main" id="{50BBEB56-078C-ACB3-53D5-59BF9E6C1333}"/>
              </a:ext>
            </a:extLst>
          </p:cNvPr>
          <p:cNvSpPr txBox="1"/>
          <p:nvPr/>
        </p:nvSpPr>
        <p:spPr>
          <a:xfrm>
            <a:off x="12973952" y="6848314"/>
            <a:ext cx="364752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FINAL</a:t>
            </a:r>
          </a:p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SUBMISSION</a:t>
            </a:r>
          </a:p>
        </p:txBody>
      </p:sp>
      <p:sp>
        <p:nvSpPr>
          <p:cNvPr id="87" name="TextBox 80">
            <a:extLst>
              <a:ext uri="{FF2B5EF4-FFF2-40B4-BE49-F238E27FC236}">
                <a16:creationId xmlns:a16="http://schemas.microsoft.com/office/drawing/2014/main" id="{B5D10598-3DDF-E4A1-5A06-1188127E5CB9}"/>
              </a:ext>
            </a:extLst>
          </p:cNvPr>
          <p:cNvSpPr txBox="1"/>
          <p:nvPr/>
        </p:nvSpPr>
        <p:spPr>
          <a:xfrm>
            <a:off x="6966564" y="5709269"/>
            <a:ext cx="4996836" cy="1340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2000" b="1" spc="133" dirty="0">
                <a:solidFill>
                  <a:srgbClr val="000000"/>
                </a:solidFill>
                <a:highlight>
                  <a:srgbClr val="FFFF00"/>
                </a:highlight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 Automatically decrease the quantity of an ingredient in the digital fridge when it is used in a recipe.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5EB8-1C43-B25B-299E-BAD2B2AD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9C3780-B0BC-5CAB-147F-7BD31C8DFC6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98ED286-381D-B178-60F7-62958F85B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C9ECAB7-B89A-9640-EEBC-EDF6FFE133ED}"/>
              </a:ext>
            </a:extLst>
          </p:cNvPr>
          <p:cNvGrpSpPr/>
          <p:nvPr/>
        </p:nvGrpSpPr>
        <p:grpSpPr>
          <a:xfrm>
            <a:off x="1143000" y="2171700"/>
            <a:ext cx="16306800" cy="6324680"/>
            <a:chOff x="1364274" y="1067129"/>
            <a:chExt cx="8910467" cy="6324680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12A149D-025A-A868-A102-F52F4A40A0C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89E70A69-0B40-67BF-C069-4B6DE3CBAB9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28F9960-CA54-AB3E-E6BC-52DF3C9148AD}"/>
                </a:ext>
              </a:extLst>
            </p:cNvPr>
            <p:cNvSpPr txBox="1"/>
            <p:nvPr/>
          </p:nvSpPr>
          <p:spPr>
            <a:xfrm>
              <a:off x="1790700" y="1067129"/>
              <a:ext cx="8484041" cy="63246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1: </a:t>
              </a:r>
            </a:p>
            <a:p>
              <a:pPr algn="r">
                <a:lnSpc>
                  <a:spcPts val="5759"/>
                </a:lnSpc>
              </a:pP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</a:rPr>
                <a:t>Auto-Decreasing Ingredients</a:t>
              </a:r>
              <a:endParaRPr lang="en-US" altLang="zh-CN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  <a:p>
              <a:pPr algn="r">
                <a:lnSpc>
                  <a:spcPts val="5759"/>
                </a:lnSpc>
              </a:pPr>
              <a:endParaRPr lang="en-US" altLang="zh-CN" sz="4999" b="1" i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Arial" panose="020B0604020202020204" pitchFamily="34" charset="0"/>
                <a:sym typeface="字由点字典黑 75J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altLang="zh-CN" sz="5400" b="0" i="0" dirty="0">
                  <a:effectLst/>
                  <a:latin typeface="D-DINExp"/>
                </a:rPr>
                <a:t> Added a feature to automatically decrease the quantity of an ingredient when it's used in a recipe.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altLang="zh-CN" sz="5400" b="0" i="0" dirty="0">
                  <a:effectLst/>
                  <a:latin typeface="D-DINExp"/>
                </a:rPr>
                <a:t> Users can click the "USED" button to update quantities or delete items that are completely used.</a:t>
              </a:r>
              <a:br>
                <a:rPr lang="en-US" altLang="zh-CN" sz="5400" dirty="0"/>
              </a:b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18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6F83-CBC0-CBF3-7830-FCA957C6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7B8C06-59A1-E9EC-D1FC-C48DD1B73BA6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81C372EF-FE6B-AB12-EEB5-DADAB4B6A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B17CA2B-DB2D-2990-4734-8F7273C3CC6A}"/>
              </a:ext>
            </a:extLst>
          </p:cNvPr>
          <p:cNvGrpSpPr/>
          <p:nvPr/>
        </p:nvGrpSpPr>
        <p:grpSpPr>
          <a:xfrm>
            <a:off x="914400" y="2132653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5AAE952-724C-2E3E-485B-0F2875FFA664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6D65CF4-43B5-BD28-E5EE-4B5977B19CEB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A9D7991-132E-95BF-AD7D-37CEFD1BE2A1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5229CE8-195E-C120-CB93-FD8C5A34CF7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A760DB0-1DA6-BF38-8131-B34435DCA8CE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6232027-9510-F95F-54D6-A63BCAB01B5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E63E51D-145F-3B15-1A09-853D1446B729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1FF1794-49BB-75D4-0ABA-ABF19A94C804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0CC1C80-4F30-120A-6B2D-65F8821729F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E078FFA-6AF2-A2E2-9207-951F521B8672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715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3F473DD6-D796-09ED-7304-7DB7EBB4C19A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984133" cy="647346"/>
                <a:chOff x="3492152" y="3042863"/>
                <a:chExt cx="11984133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F3E0A30B-3A81-1951-B2F4-06499B0E51FE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1EDE7F50-3754-D4EC-9382-A6C8748C7FF7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F9122BFB-CE9C-A94C-9DE7-8402CBBA009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A3243A97-0195-12C4-9B2A-05536B317549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1629931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Recipe Detail View Changed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98092B3-5C15-69F9-D13A-576DB94C5A57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EE245C8-D83A-62E5-5FF4-46AF750FE20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F085E42-F0C4-2F5F-F990-9EAB803310A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26F0318-ECE5-0D85-C4B5-A6E2526B201B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1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737B02C8-563C-0EB7-72DB-A1E556E92329}"/>
              </a:ext>
            </a:extLst>
          </p:cNvPr>
          <p:cNvSpPr txBox="1"/>
          <p:nvPr/>
        </p:nvSpPr>
        <p:spPr>
          <a:xfrm>
            <a:off x="1083669" y="4016776"/>
            <a:ext cx="7298331" cy="3197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Here is the original page of detail recipe, the ingredients are displayed in plain text in a text view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Not clear (especially for those who cannot cook based on experience)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FE60151-3E53-783F-43E8-53A4C6FE2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1158" y="0"/>
            <a:ext cx="604130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8D88A57-AC2F-4C11-E8DF-6E3672C91654}"/>
              </a:ext>
            </a:extLst>
          </p:cNvPr>
          <p:cNvGrpSpPr/>
          <p:nvPr/>
        </p:nvGrpSpPr>
        <p:grpSpPr>
          <a:xfrm>
            <a:off x="914400" y="2132653"/>
            <a:ext cx="8993743" cy="1476196"/>
            <a:chOff x="2151747" y="2703068"/>
            <a:chExt cx="13984506" cy="1476196"/>
          </a:xfrm>
        </p:grpSpPr>
        <p:grpSp>
          <p:nvGrpSpPr>
            <p:cNvPr id="9" name="Group 9"/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9649ABC-9A9A-D6FD-21E8-7CB435202A45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2743938" y="3032669"/>
                <a:ext cx="656774" cy="5715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6206E6F5-B422-B20B-E928-9313F466FED9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984133" cy="647346"/>
                <a:chOff x="3492152" y="3042863"/>
                <a:chExt cx="11984133" cy="647346"/>
              </a:xfrm>
            </p:grpSpPr>
            <p:sp>
              <p:nvSpPr>
                <p:cNvPr id="6" name="AutoShape 6"/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/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/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/>
                <p:cNvSpPr txBox="1"/>
                <p:nvPr/>
              </p:nvSpPr>
              <p:spPr>
                <a:xfrm>
                  <a:off x="3846354" y="3061244"/>
                  <a:ext cx="11629931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Recipe Detail View Changed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C98ABE-EF86-43F6-E976-CAD92A98EEF4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/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1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DC9A71DA-9716-4F7B-1FAA-33979D12D151}"/>
              </a:ext>
            </a:extLst>
          </p:cNvPr>
          <p:cNvSpPr txBox="1"/>
          <p:nvPr/>
        </p:nvSpPr>
        <p:spPr>
          <a:xfrm>
            <a:off x="1083668" y="4016776"/>
            <a:ext cx="8060331" cy="3197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Clearer: The ingredients are displayed in a recycler view, like a formatted list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Add a “USED “ button after each, after clicking, the quantity of that item in your digital fridge will decrease automatically.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After action, a toast will notify you what it done.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8433149-BDD6-46DE-0B33-4069E59BA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527" y="16620"/>
            <a:ext cx="4629150" cy="102870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CB53B7C8-7359-B58E-FBD6-4A5DEFEFA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8850" y="-6556"/>
            <a:ext cx="4629150" cy="10287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B24C548-7CB2-155E-A140-190582CEB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78" y="7544746"/>
            <a:ext cx="8445397" cy="1789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7840-D0C3-8FB0-412E-25D7E2C7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EF29E2-2AB6-A6E9-7E25-0CD7C19E1D0E}"/>
              </a:ext>
            </a:extLst>
          </p:cNvPr>
          <p:cNvGrpSpPr/>
          <p:nvPr/>
        </p:nvGrpSpPr>
        <p:grpSpPr>
          <a:xfrm>
            <a:off x="30804" y="13291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AEEC65C-5636-6B2B-EF5C-5C1848AD8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112FADD-D64A-2908-BE37-AE53080E8C55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C1A8B23-B60C-46AA-D9B5-4DB0DF479C1C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93A2B31-EBEA-686E-ABF1-D75905C9E241}"/>
              </a:ext>
            </a:extLst>
          </p:cNvPr>
          <p:cNvGrpSpPr/>
          <p:nvPr/>
        </p:nvGrpSpPr>
        <p:grpSpPr>
          <a:xfrm>
            <a:off x="9601200" y="3238500"/>
            <a:ext cx="7924802" cy="4419600"/>
            <a:chOff x="7890248" y="3751468"/>
            <a:chExt cx="6553202" cy="577755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22BAEB7-4D97-2E36-33F4-482689879BE4}"/>
                </a:ext>
              </a:extLst>
            </p:cNvPr>
            <p:cNvGrpSpPr/>
            <p:nvPr/>
          </p:nvGrpSpPr>
          <p:grpSpPr>
            <a:xfrm>
              <a:off x="12607575" y="9065754"/>
              <a:ext cx="1294068" cy="463268"/>
              <a:chOff x="13016506" y="4734248"/>
              <a:chExt cx="981270" cy="33566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2F10233-B73A-B884-BC19-D09CEF5693DA}"/>
                  </a:ext>
                </a:extLst>
              </p:cNvPr>
              <p:cNvGrpSpPr/>
              <p:nvPr/>
            </p:nvGrpSpPr>
            <p:grpSpPr>
              <a:xfrm>
                <a:off x="13016506" y="4734250"/>
                <a:ext cx="335661" cy="335661"/>
                <a:chOff x="-1274750" y="1187413"/>
                <a:chExt cx="447548" cy="447548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CA5FC765-49A3-B61F-A5EF-3B148961FD3F}"/>
                    </a:ext>
                  </a:extLst>
                </p:cNvPr>
                <p:cNvSpPr/>
                <p:nvPr/>
              </p:nvSpPr>
              <p:spPr>
                <a:xfrm>
                  <a:off x="-1274750" y="1187413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040A470E-763B-DA5A-772B-025C90BD8135}"/>
                  </a:ext>
                </a:extLst>
              </p:cNvPr>
              <p:cNvGrpSpPr/>
              <p:nvPr/>
            </p:nvGrpSpPr>
            <p:grpSpPr>
              <a:xfrm>
                <a:off x="13357444" y="4734248"/>
                <a:ext cx="335661" cy="335661"/>
                <a:chOff x="-1267597" y="1187411"/>
                <a:chExt cx="447548" cy="447548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5FC17DF0-478B-AA8E-8278-C5C6E1FDBE8F}"/>
                    </a:ext>
                  </a:extLst>
                </p:cNvPr>
                <p:cNvSpPr/>
                <p:nvPr/>
              </p:nvSpPr>
              <p:spPr>
                <a:xfrm>
                  <a:off x="-1267597" y="1187411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BA408592-D1C3-BA4D-9912-B1757750882A}"/>
                  </a:ext>
                </a:extLst>
              </p:cNvPr>
              <p:cNvGrpSpPr/>
              <p:nvPr/>
            </p:nvGrpSpPr>
            <p:grpSpPr>
              <a:xfrm>
                <a:off x="13662115" y="4734249"/>
                <a:ext cx="335661" cy="335661"/>
                <a:chOff x="-1308800" y="1187412"/>
                <a:chExt cx="447548" cy="44754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DDC2F722-6C2B-3775-4496-907CC08DCDE2}"/>
                    </a:ext>
                  </a:extLst>
                </p:cNvPr>
                <p:cNvSpPr/>
                <p:nvPr/>
              </p:nvSpPr>
              <p:spPr>
                <a:xfrm>
                  <a:off x="-1308800" y="1187412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BF59E54-8952-3A81-5119-6BCB7FA620EC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666429E2-883A-A6F2-A084-DE479862C263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F20F8CB-2741-E8D9-A414-F47E7C469AF6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0794E76-E5F3-14F3-DEF0-9A76A19FB262}"/>
                  </a:ext>
                </a:extLst>
              </p:cNvPr>
              <p:cNvSpPr txBox="1"/>
              <p:nvPr/>
            </p:nvSpPr>
            <p:spPr>
              <a:xfrm>
                <a:off x="10491064" y="5627960"/>
                <a:ext cx="6017441" cy="340482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This method handles conversions between different units (like kg to g or l to ml) and returns the conversion factor. If units are incompatible, it returns -1.</a:t>
                </a:r>
                <a:endParaRPr lang="en-US" altLang="zh-CN" sz="2821" dirty="0">
                  <a:solidFill>
                    <a:srgbClr val="404040"/>
                  </a:solidFill>
                  <a:latin typeface="字由点字典黑 35J"/>
                  <a:ea typeface="字由点字典黑 35J"/>
                  <a:sym typeface="字由点字典黑 35J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sym typeface="字由点字典黑 35J"/>
                  </a:rPr>
                  <a:t>This method is used to compute the quantity need to be updated</a:t>
                </a:r>
                <a:endParaRPr lang="en-US" altLang="zh-CN" sz="2821" dirty="0">
                  <a:solidFill>
                    <a:srgbClr val="404040"/>
                  </a:solidFill>
                  <a:latin typeface="字由点字典黑 35J"/>
                  <a:ea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077D2909-0DF3-3872-0841-EA11F3CAE43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289A464-B45A-6B33-C659-72209A49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73" y="1810922"/>
            <a:ext cx="7591425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3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16D0-90E1-B79C-E7DD-714FF22D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8EC4C8-C9F3-FB21-ADD2-64282E874EAA}"/>
              </a:ext>
            </a:extLst>
          </p:cNvPr>
          <p:cNvGrpSpPr/>
          <p:nvPr/>
        </p:nvGrpSpPr>
        <p:grpSpPr>
          <a:xfrm>
            <a:off x="0" y="10538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DD6BAA3-038A-874C-A79E-98F873BDB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5433939-019E-9C9E-CC3C-E46A5B1EEBFD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1D3D2A9-379D-3BC2-2DA7-A03A6C60D02A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17A6510-C9D0-D62D-D6C6-6826418AF93D}"/>
              </a:ext>
            </a:extLst>
          </p:cNvPr>
          <p:cNvGrpSpPr/>
          <p:nvPr/>
        </p:nvGrpSpPr>
        <p:grpSpPr>
          <a:xfrm>
            <a:off x="12420600" y="5448300"/>
            <a:ext cx="5589311" cy="1219200"/>
            <a:chOff x="9339513" y="3619500"/>
            <a:chExt cx="6553201" cy="468028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5FC3501-B49E-430F-FCD6-866353FE3469}"/>
                </a:ext>
              </a:extLst>
            </p:cNvPr>
            <p:cNvGrpSpPr/>
            <p:nvPr/>
          </p:nvGrpSpPr>
          <p:grpSpPr>
            <a:xfrm>
              <a:off x="13868400" y="7836641"/>
              <a:ext cx="1327632" cy="463145"/>
              <a:chOff x="13972568" y="3843690"/>
              <a:chExt cx="1006721" cy="335574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0E6BBD35-627E-6C34-BC08-76620D07959F}"/>
                  </a:ext>
                </a:extLst>
              </p:cNvPr>
              <p:cNvGrpSpPr/>
              <p:nvPr/>
            </p:nvGrpSpPr>
            <p:grpSpPr>
              <a:xfrm>
                <a:off x="13972568" y="3843690"/>
                <a:ext cx="335574" cy="335574"/>
                <a:chOff x="0" y="0"/>
                <a:chExt cx="447432" cy="447432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3F58DFF1-A53C-A10C-70B8-499C54954C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F7587F46-485E-8B9C-428C-70D6E992B8B6}"/>
                  </a:ext>
                </a:extLst>
              </p:cNvPr>
              <p:cNvGrpSpPr/>
              <p:nvPr/>
            </p:nvGrpSpPr>
            <p:grpSpPr>
              <a:xfrm>
                <a:off x="14308142" y="3843690"/>
                <a:ext cx="335574" cy="335574"/>
                <a:chOff x="0" y="0"/>
                <a:chExt cx="447432" cy="447432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52FC119C-E1E6-0AE3-A554-82D2B2E1A71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71E3CD79-CD67-C633-185C-2362689C2E42}"/>
                  </a:ext>
                </a:extLst>
              </p:cNvPr>
              <p:cNvGrpSpPr/>
              <p:nvPr/>
            </p:nvGrpSpPr>
            <p:grpSpPr>
              <a:xfrm>
                <a:off x="14643715" y="3843690"/>
                <a:ext cx="335574" cy="335574"/>
                <a:chOff x="0" y="0"/>
                <a:chExt cx="447432" cy="447432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AEC1542-A018-A5F4-01AB-7BB0BDEEA26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B3C004F-5711-4559-5DC3-08E5495177D4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4495764"/>
              <a:chOff x="11438938" y="4457700"/>
              <a:chExt cx="6553201" cy="449576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E47C751A-85A5-5B1A-F013-4D477A710A63}"/>
                  </a:ext>
                </a:extLst>
              </p:cNvPr>
              <p:cNvGrpSpPr/>
              <p:nvPr/>
            </p:nvGrpSpPr>
            <p:grpSpPr>
              <a:xfrm>
                <a:off x="11438938" y="4457700"/>
                <a:ext cx="6553201" cy="4495764"/>
                <a:chOff x="0" y="0"/>
                <a:chExt cx="18646011" cy="1757934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C224B7DF-5C69-67F1-DF9A-6710036D0A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1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2D85DB3E-3CCF-1110-BE36-ED856A33B859}"/>
                  </a:ext>
                </a:extLst>
              </p:cNvPr>
              <p:cNvSpPr txBox="1"/>
              <p:nvPr/>
            </p:nvSpPr>
            <p:spPr>
              <a:xfrm>
                <a:off x="11735914" y="4589667"/>
                <a:ext cx="6017441" cy="400306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the unit did not match at all, return an error message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CFCD6C7-5940-20BB-791B-19ABD278B8B9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7C156E0-519F-EAA6-7C14-C7FEE00FB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89" y="2287914"/>
            <a:ext cx="11718399" cy="726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4CE2-35B0-8F15-1CDB-BD3C1B82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1DA06A-53C3-9E2C-E101-84F729819955}"/>
              </a:ext>
            </a:extLst>
          </p:cNvPr>
          <p:cNvGrpSpPr/>
          <p:nvPr/>
        </p:nvGrpSpPr>
        <p:grpSpPr>
          <a:xfrm>
            <a:off x="20782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04E9473-1A92-A7EA-2A21-C40BEB43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CD499E3-A35D-E2D0-6287-FDEA08F998E9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E137658-1E25-39F1-2631-F68A2613B29E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6293A6F-F1E2-DA40-D0E3-27487F3E8CA3}"/>
              </a:ext>
            </a:extLst>
          </p:cNvPr>
          <p:cNvGrpSpPr/>
          <p:nvPr/>
        </p:nvGrpSpPr>
        <p:grpSpPr>
          <a:xfrm>
            <a:off x="12369027" y="2945361"/>
            <a:ext cx="5589311" cy="13117473"/>
            <a:chOff x="9339513" y="3619500"/>
            <a:chExt cx="6553201" cy="1686239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68FB147-7273-F4A4-EF34-45614EA33139}"/>
                </a:ext>
              </a:extLst>
            </p:cNvPr>
            <p:cNvGrpSpPr/>
            <p:nvPr/>
          </p:nvGrpSpPr>
          <p:grpSpPr>
            <a:xfrm>
              <a:off x="13792962" y="9559001"/>
              <a:ext cx="1743418" cy="463264"/>
              <a:chOff x="13915369" y="5091631"/>
              <a:chExt cx="1322005" cy="335660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E32AAEAE-A2C7-F3ED-20CF-0359D49A785A}"/>
                  </a:ext>
                </a:extLst>
              </p:cNvPr>
              <p:cNvGrpSpPr/>
              <p:nvPr/>
            </p:nvGrpSpPr>
            <p:grpSpPr>
              <a:xfrm>
                <a:off x="13915369" y="5091631"/>
                <a:ext cx="335661" cy="335660"/>
                <a:chOff x="-76266" y="1663922"/>
                <a:chExt cx="447548" cy="447547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1D18904D-E462-3A42-F731-A92F04B7BE0D}"/>
                    </a:ext>
                  </a:extLst>
                </p:cNvPr>
                <p:cNvSpPr/>
                <p:nvPr/>
              </p:nvSpPr>
              <p:spPr>
                <a:xfrm>
                  <a:off x="-76266" y="1663922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6540579C-6F33-91AC-0BB7-419610D8E207}"/>
                  </a:ext>
                </a:extLst>
              </p:cNvPr>
              <p:cNvGrpSpPr/>
              <p:nvPr/>
            </p:nvGrpSpPr>
            <p:grpSpPr>
              <a:xfrm>
                <a:off x="14393719" y="5091631"/>
                <a:ext cx="335661" cy="335660"/>
                <a:chOff x="114102" y="1663923"/>
                <a:chExt cx="447548" cy="447547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F56005D0-B19E-D78E-E8F3-304231297DFD}"/>
                    </a:ext>
                  </a:extLst>
                </p:cNvPr>
                <p:cNvSpPr/>
                <p:nvPr/>
              </p:nvSpPr>
              <p:spPr>
                <a:xfrm>
                  <a:off x="114102" y="1663923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4DBCA614-58A1-1F0A-58AE-8A238676C1E1}"/>
                  </a:ext>
                </a:extLst>
              </p:cNvPr>
              <p:cNvGrpSpPr/>
              <p:nvPr/>
            </p:nvGrpSpPr>
            <p:grpSpPr>
              <a:xfrm>
                <a:off x="14901713" y="5091631"/>
                <a:ext cx="335661" cy="335660"/>
                <a:chOff x="343997" y="1663922"/>
                <a:chExt cx="447548" cy="447547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6919ED1E-B510-33DF-F8BD-BA831A6B6869}"/>
                    </a:ext>
                  </a:extLst>
                </p:cNvPr>
                <p:cNvSpPr/>
                <p:nvPr/>
              </p:nvSpPr>
              <p:spPr>
                <a:xfrm>
                  <a:off x="343997" y="1663922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01AB1DB-4811-4925-22CB-58D535B61147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16862396"/>
              <a:chOff x="11438938" y="4457700"/>
              <a:chExt cx="6553201" cy="16862396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41FB626-E1F5-0E20-C97E-7F9FE9948AAB}"/>
                  </a:ext>
                </a:extLst>
              </p:cNvPr>
              <p:cNvGrpSpPr/>
              <p:nvPr/>
            </p:nvGrpSpPr>
            <p:grpSpPr>
              <a:xfrm>
                <a:off x="11438938" y="4457700"/>
                <a:ext cx="6553201" cy="6171128"/>
                <a:chOff x="0" y="0"/>
                <a:chExt cx="18646011" cy="2413035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D0CC209E-15D7-2849-F85D-3CB15D8B089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1" cy="2413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AFE3C98-FE7E-DCEA-966C-9E512C1BEBAE}"/>
                  </a:ext>
                </a:extLst>
              </p:cNvPr>
              <p:cNvSpPr txBox="1"/>
              <p:nvPr/>
            </p:nvSpPr>
            <p:spPr>
              <a:xfrm>
                <a:off x="11706818" y="4911309"/>
                <a:ext cx="6017441" cy="1640878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Based on the updated quantity calculated by subtracting the used quantity from the stored quantity: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sufficient quantity remains, it updates the quantity using another API call (</a:t>
                </a: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updateStorage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).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F574D99-47C5-F8E3-C5F9-FC3D85BEF108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2D96A50-3342-3F0D-B7C1-2A78F6E1B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67" y="2120943"/>
            <a:ext cx="11325225" cy="725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5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E96A-3C2D-6D53-4B19-EA625276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4A892B-CC65-29DE-6B3A-C7C5128A7948}"/>
              </a:ext>
            </a:extLst>
          </p:cNvPr>
          <p:cNvGrpSpPr/>
          <p:nvPr/>
        </p:nvGrpSpPr>
        <p:grpSpPr>
          <a:xfrm>
            <a:off x="20782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EDD6784-E4B8-86A9-5CB1-5F2A8F1AF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24310A9-FCF0-8E0A-2AE3-D35E506EC737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FC861BD-5B57-B718-AE1E-771231EC262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2E8034B-02A3-A03C-E6CA-BA1EC6192C4C}"/>
              </a:ext>
            </a:extLst>
          </p:cNvPr>
          <p:cNvGrpSpPr/>
          <p:nvPr/>
        </p:nvGrpSpPr>
        <p:grpSpPr>
          <a:xfrm>
            <a:off x="12363945" y="2668172"/>
            <a:ext cx="5624945" cy="6761578"/>
            <a:chOff x="9339513" y="3619500"/>
            <a:chExt cx="6553201" cy="7493249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A274CA9-B6FA-9172-40F2-B11760AB9A2A}"/>
                </a:ext>
              </a:extLst>
            </p:cNvPr>
            <p:cNvGrpSpPr/>
            <p:nvPr/>
          </p:nvGrpSpPr>
          <p:grpSpPr>
            <a:xfrm>
              <a:off x="13792962" y="9559001"/>
              <a:ext cx="1743418" cy="463264"/>
              <a:chOff x="13915369" y="5091631"/>
              <a:chExt cx="1322005" cy="335660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8CC7263-2363-716E-E263-05D07F7887DC}"/>
                  </a:ext>
                </a:extLst>
              </p:cNvPr>
              <p:cNvGrpSpPr/>
              <p:nvPr/>
            </p:nvGrpSpPr>
            <p:grpSpPr>
              <a:xfrm>
                <a:off x="13915369" y="5091631"/>
                <a:ext cx="335661" cy="335660"/>
                <a:chOff x="-76266" y="1663922"/>
                <a:chExt cx="447548" cy="447547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E8EDDCF2-D7AF-D9C1-09D7-CFA892FB818D}"/>
                    </a:ext>
                  </a:extLst>
                </p:cNvPr>
                <p:cNvSpPr/>
                <p:nvPr/>
              </p:nvSpPr>
              <p:spPr>
                <a:xfrm>
                  <a:off x="-76266" y="1663922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5A8415C2-D1ED-9FD7-A03D-D8910AD8D2AF}"/>
                  </a:ext>
                </a:extLst>
              </p:cNvPr>
              <p:cNvGrpSpPr/>
              <p:nvPr/>
            </p:nvGrpSpPr>
            <p:grpSpPr>
              <a:xfrm>
                <a:off x="14393719" y="5091631"/>
                <a:ext cx="335661" cy="335660"/>
                <a:chOff x="114102" y="1663923"/>
                <a:chExt cx="447548" cy="447547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1CDACD12-46A1-6595-F200-5591D01B8CF1}"/>
                    </a:ext>
                  </a:extLst>
                </p:cNvPr>
                <p:cNvSpPr/>
                <p:nvPr/>
              </p:nvSpPr>
              <p:spPr>
                <a:xfrm>
                  <a:off x="114102" y="1663923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5B771BF2-AAE8-007F-DC98-577B60F3F0D1}"/>
                  </a:ext>
                </a:extLst>
              </p:cNvPr>
              <p:cNvGrpSpPr/>
              <p:nvPr/>
            </p:nvGrpSpPr>
            <p:grpSpPr>
              <a:xfrm>
                <a:off x="14901713" y="5091631"/>
                <a:ext cx="335661" cy="335660"/>
                <a:chOff x="343997" y="1663922"/>
                <a:chExt cx="447548" cy="447547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A64F680-C884-790A-1A11-54297EB63EC4}"/>
                    </a:ext>
                  </a:extLst>
                </p:cNvPr>
                <p:cNvSpPr/>
                <p:nvPr/>
              </p:nvSpPr>
              <p:spPr>
                <a:xfrm>
                  <a:off x="343997" y="1663922"/>
                  <a:ext cx="447548" cy="447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EE6E96B-3E8E-F711-B3A2-B0F6D1C986EE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7493249"/>
              <a:chOff x="11438938" y="4457700"/>
              <a:chExt cx="6553201" cy="7493249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83E06C81-2D91-32A1-6B52-FB4A240F9414}"/>
                  </a:ext>
                </a:extLst>
              </p:cNvPr>
              <p:cNvGrpSpPr/>
              <p:nvPr/>
            </p:nvGrpSpPr>
            <p:grpSpPr>
              <a:xfrm>
                <a:off x="11438938" y="4457700"/>
                <a:ext cx="6553201" cy="6171128"/>
                <a:chOff x="0" y="0"/>
                <a:chExt cx="18646011" cy="2413035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B4074D4D-B7C3-1852-C1D7-983B681AECE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1" cy="2413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874960D-3EDC-8AE8-D81A-4DD430DF6C8A}"/>
                  </a:ext>
                </a:extLst>
              </p:cNvPr>
              <p:cNvSpPr txBox="1"/>
              <p:nvPr/>
            </p:nvSpPr>
            <p:spPr>
              <a:xfrm>
                <a:off x="11706818" y="4911310"/>
                <a:ext cx="6017441" cy="703963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completely used up, it deletes the ingredient from storage using the </a:t>
                </a: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deleteItem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method.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there's still a need for more of the ingredient after using the available stock, it attempts to fetch more of that ingredient from storage.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296EF88-C13D-61CE-EBD3-95BEA12D532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1D291E4-E6E9-BAA4-D207-8089B8AF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1" y="2603970"/>
            <a:ext cx="11920084" cy="560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3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76E8-5065-DFD6-D989-F7000224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E997BA-EEE6-4AE0-DE1F-3FC51337E74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90A94549-88EB-AD51-E2AD-7C7ED792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A0B8047-3D6F-F54D-E583-E22257742139}"/>
              </a:ext>
            </a:extLst>
          </p:cNvPr>
          <p:cNvGrpSpPr/>
          <p:nvPr/>
        </p:nvGrpSpPr>
        <p:grpSpPr>
          <a:xfrm>
            <a:off x="790008" y="3013106"/>
            <a:ext cx="10182792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62E89A0-2601-D37F-B2ED-3D7D3997D900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A7C14F4-BA9B-C79A-0932-1BC5580A8F7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6B34AA4E-A8DA-FF1D-458C-B0192A02EB84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F3AF067-9010-2AD5-496D-65B12E2A6380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7756CF9-9165-41D1-3EA2-182593FC58C6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B28A799-CB8A-D59F-ED6C-A05590EA09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A1E768E-7AAF-00F0-5221-858A872759BE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DBD34D0F-D30A-469C-AD46-E89EA99908CA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6EFBF92F-7937-33A3-00DB-34AF60896EF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955FDA5-7F2D-86CD-7067-11847300409D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B5A91B96-12E0-10B6-926B-869ED347128D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634578" cy="647346"/>
                <a:chOff x="3492152" y="3042863"/>
                <a:chExt cx="12634578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38107FC7-C5E2-A11B-6CD0-F682300AB11C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D68C2652-BF08-CD9E-8CA8-69BF0CF26CF2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144B2572-82D1-A10B-B9F8-6A6FDA93141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582E748A-97BD-92DA-CB07-C0738955E3BF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2280376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Create &amp; Edit Recipe View Changed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9887F9-4EC6-4A51-44DB-DC6CD8160243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E9B49A2-E67B-0EBD-DA9A-AE48E02871E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8C3ECE6-CDC3-E1AB-9368-11F45C759A1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D08765A-9F0E-5E8A-A6B0-CEBB1FC04579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1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EA7523A3-90DC-666A-80C3-71C4C018A90B}"/>
              </a:ext>
            </a:extLst>
          </p:cNvPr>
          <p:cNvSpPr txBox="1"/>
          <p:nvPr/>
        </p:nvSpPr>
        <p:spPr>
          <a:xfrm>
            <a:off x="950843" y="5223503"/>
            <a:ext cx="9508131" cy="10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Here is the original page of creating a recipe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Plain text, cannot ensure every handle to the </a:t>
            </a:r>
            <a:r>
              <a:rPr lang="en-US" sz="2821" dirty="0" err="1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econtext</a:t>
            </a:r>
            <a:endParaRPr lang="en-US" sz="282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F0C75A1-052A-5896-62C0-017D5DC37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499" y="0"/>
            <a:ext cx="516262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38C7-0047-F1AF-B0D1-F1F7D58B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8F9499-E979-6B57-EFEB-8E18F4396A6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A00A456-FC0A-DC6E-BF30-89A78ECC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3BC5DC-16E0-FCEF-9461-F2CFD4C26357}"/>
              </a:ext>
            </a:extLst>
          </p:cNvPr>
          <p:cNvGrpSpPr/>
          <p:nvPr/>
        </p:nvGrpSpPr>
        <p:grpSpPr>
          <a:xfrm>
            <a:off x="914400" y="2752904"/>
            <a:ext cx="10668000" cy="1476196"/>
            <a:chOff x="2151748" y="2703068"/>
            <a:chExt cx="14075485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08E634F-1B86-52AA-143D-6AFC94BEBBEB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ABFFBCC-50DC-7E86-6E1E-8CC8E8602529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92B58BEE-A88B-C811-E942-AFA4759E75DF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3C442A0A-BA16-7EB2-4816-6DC62ADE4A4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063A16E-4B35-A5FE-F099-843A8C90F82D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6B6F753-D65D-E804-2FC6-5ECFC2721D9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8ECB434-7BA9-4B24-2EA9-42747F6B187D}"/>
                </a:ext>
              </a:extLst>
            </p:cNvPr>
            <p:cNvGrpSpPr/>
            <p:nvPr/>
          </p:nvGrpSpPr>
          <p:grpSpPr>
            <a:xfrm>
              <a:off x="2151748" y="2703068"/>
              <a:ext cx="14075485" cy="1318451"/>
              <a:chOff x="2151748" y="2702541"/>
              <a:chExt cx="14075485" cy="131845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717CF966-2134-699A-ADC4-2FAB29F65FC4}"/>
                  </a:ext>
                </a:extLst>
              </p:cNvPr>
              <p:cNvGrpSpPr/>
              <p:nvPr/>
            </p:nvGrpSpPr>
            <p:grpSpPr>
              <a:xfrm>
                <a:off x="2151748" y="2702541"/>
                <a:ext cx="13984509" cy="1318451"/>
                <a:chOff x="0" y="0"/>
                <a:chExt cx="18646012" cy="1757935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41BFED1-7C5F-33A1-CC13-3A425A4A940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0BD2F86-0E0C-14DD-2022-5C96E078C6B8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3E7B56A-7D4C-CCA1-0565-7661B353D998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735081" cy="647346"/>
                <a:chOff x="3492152" y="3042863"/>
                <a:chExt cx="12735081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C62EDFB1-ACF1-B17B-3198-009AC9FDE27A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F54B996E-570A-F53A-3D23-3E76D02CCDB1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DD858436-2BE9-45E1-7F86-9D25A678BE8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C32FBAF1-DB37-35EC-DC02-DADD1D2AAB74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2380877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Create &amp; Edit Recipe View Changed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C300F76-EE08-E410-6D64-0F2A9A0C0721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B9D30E2-D806-0E27-E705-03DB438B94D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2258F8C-6E46-FE8C-4832-562B7E8DA9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962EB55-1869-E4CF-0F09-7923525BA226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1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5981CD70-15A1-2094-F3CC-B3DD3372E802}"/>
              </a:ext>
            </a:extLst>
          </p:cNvPr>
          <p:cNvSpPr txBox="1"/>
          <p:nvPr/>
        </p:nvSpPr>
        <p:spPr>
          <a:xfrm>
            <a:off x="1083669" y="4781305"/>
            <a:ext cx="9508131" cy="3735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Modified the create recipe page to require specific quantity and unit for each ingredient.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Users must select units from predefined options, ensuring compatibility with stored ingredient units.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Updated image selection and upload logic to fit in with the current system.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A8E4CFD-4B65-63DC-E830-2CFBBD960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9686" y="5032"/>
            <a:ext cx="46291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3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538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426A15B-3750-1B80-0AB7-1DBD2287B3D9}"/>
              </a:ext>
            </a:extLst>
          </p:cNvPr>
          <p:cNvGrpSpPr/>
          <p:nvPr/>
        </p:nvGrpSpPr>
        <p:grpSpPr>
          <a:xfrm>
            <a:off x="11125200" y="4533900"/>
            <a:ext cx="6553201" cy="1981200"/>
            <a:chOff x="9339513" y="3619500"/>
            <a:chExt cx="6553201" cy="468028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34C4677-14CB-35D7-024A-70F8B75AE0C1}"/>
                </a:ext>
              </a:extLst>
            </p:cNvPr>
            <p:cNvGrpSpPr/>
            <p:nvPr/>
          </p:nvGrpSpPr>
          <p:grpSpPr>
            <a:xfrm>
              <a:off x="13868400" y="7836641"/>
              <a:ext cx="1327632" cy="463145"/>
              <a:chOff x="13972568" y="3843690"/>
              <a:chExt cx="1006721" cy="335574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13972568" y="3843690"/>
                <a:ext cx="335574" cy="335574"/>
                <a:chOff x="0" y="0"/>
                <a:chExt cx="447432" cy="44743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/>
              <p:cNvGrpSpPr/>
              <p:nvPr/>
            </p:nvGrpSpPr>
            <p:grpSpPr>
              <a:xfrm>
                <a:off x="14308142" y="3843690"/>
                <a:ext cx="335574" cy="335574"/>
                <a:chOff x="0" y="0"/>
                <a:chExt cx="447432" cy="447432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/>
              <p:cNvGrpSpPr/>
              <p:nvPr/>
            </p:nvGrpSpPr>
            <p:grpSpPr>
              <a:xfrm>
                <a:off x="14643715" y="3843690"/>
                <a:ext cx="335574" cy="335574"/>
                <a:chOff x="0" y="0"/>
                <a:chExt cx="447432" cy="447432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0" y="0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EC5CBF7-EE49-A6AB-E8ED-4EFF2CD0D307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4495764"/>
              <a:chOff x="11438938" y="4457700"/>
              <a:chExt cx="6553201" cy="4495764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11438938" y="4457700"/>
                <a:ext cx="6553201" cy="4495764"/>
                <a:chOff x="0" y="0"/>
                <a:chExt cx="18646011" cy="1757934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18646011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1735914" y="4589667"/>
                <a:ext cx="6017441" cy="16915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The input need to restructured and stored, so that the detail page can perform accordingly correct.</a:t>
                </a: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72C8C3D-3A1E-2870-03CA-1A84DDCA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939702"/>
            <a:ext cx="9532199" cy="824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68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B793-04D1-2904-B0BE-5A33265B2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E04EA7-4D10-F04A-89BB-D925C905CE94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E2307941-1C69-7D8D-30D2-7C642556B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10F1137-B1AC-89E1-279D-B5BE80560444}"/>
              </a:ext>
            </a:extLst>
          </p:cNvPr>
          <p:cNvGrpSpPr/>
          <p:nvPr/>
        </p:nvGrpSpPr>
        <p:grpSpPr>
          <a:xfrm>
            <a:off x="1143000" y="2171700"/>
            <a:ext cx="16306800" cy="5206554"/>
            <a:chOff x="1364274" y="1067129"/>
            <a:chExt cx="8910467" cy="5206554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12EE5A4-C238-1EE6-0C16-A6754F141128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483FE76-1E8B-86E3-4428-CCE66E9F0FF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F7AC374-B9FF-0FEF-8986-D9E3F71A09B5}"/>
                </a:ext>
              </a:extLst>
            </p:cNvPr>
            <p:cNvSpPr txBox="1"/>
            <p:nvPr/>
          </p:nvSpPr>
          <p:spPr>
            <a:xfrm>
              <a:off x="1790700" y="1067129"/>
              <a:ext cx="8484041" cy="52065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2: </a:t>
              </a:r>
            </a:p>
            <a:p>
              <a:pPr algn="r">
                <a:lnSpc>
                  <a:spcPts val="5759"/>
                </a:lnSpc>
              </a:pP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</a:rPr>
                <a:t>Add Category Tab Layout</a:t>
              </a:r>
              <a:endParaRPr lang="en-US" altLang="zh-CN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  <a:p>
              <a:pPr algn="r">
                <a:lnSpc>
                  <a:spcPts val="5759"/>
                </a:lnSpc>
              </a:pPr>
              <a:endParaRPr lang="en-US" altLang="zh-CN" sz="4999" b="1" i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Arial" panose="020B0604020202020204" pitchFamily="34" charset="0"/>
                <a:sym typeface="字由点字典黑 75J"/>
              </a:endParaRPr>
            </a:p>
            <a:p>
              <a:pPr>
                <a:lnSpc>
                  <a:spcPts val="5759"/>
                </a:lnSpc>
              </a:pPr>
              <a:r>
                <a:rPr lang="en-US" altLang="zh-CN" sz="4999" b="1" i="1" spc="333" dirty="0">
                  <a:solidFill>
                    <a:srgbClr val="000000"/>
                  </a:solidFill>
                  <a:latin typeface="Arial" panose="020B0604020202020204" pitchFamily="34" charset="0"/>
                  <a:ea typeface="字由点字典黑 35J"/>
                  <a:cs typeface="Arial" panose="020B0604020202020204" pitchFamily="34" charset="0"/>
                </a:rPr>
                <a:t>A tab layout is placed under the search bar so users can view their items based on their category.</a:t>
              </a:r>
              <a:br>
                <a:rPr lang="en-US" altLang="zh-CN" sz="5400" dirty="0"/>
              </a:b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309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801-3FF2-9444-9144-F56D8AFC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0D27F8-2514-19F6-8AD1-181B1F4FC7C3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90C739B1-3BCC-F2B2-011C-E3E234F98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570CF6-E196-56A6-374E-73BB71C8322F}"/>
              </a:ext>
            </a:extLst>
          </p:cNvPr>
          <p:cNvGrpSpPr/>
          <p:nvPr/>
        </p:nvGrpSpPr>
        <p:grpSpPr>
          <a:xfrm>
            <a:off x="1082232" y="2959251"/>
            <a:ext cx="8567316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DD83C66-048A-3070-B68A-F7AAFDEF6DA7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101EA7B-B87C-E01D-1817-ECA7CAFB7A83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57265127-0A50-12C9-D47D-F8BDAB2E5DB0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0DACD084-ED4E-47B3-2456-96313649E120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DE2B16DD-8056-98F2-C67D-A4C228D34A5B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53E07EE4-15C2-D5D1-46EB-0E811FCACB7A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B57C867-189A-9CD2-5777-B1A007ABE8F3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264D9ACE-487C-0849-665E-4CAF5A3618A4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94F96013-3BE8-790C-7D7E-9D838B8EF1E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092244E9-5A1B-39DE-98B6-E1003CD53376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9EAE3041-4098-D531-340F-7D51FC302FB9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405335" cy="647346"/>
                <a:chOff x="3492152" y="3042863"/>
                <a:chExt cx="12405335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4B00B290-2974-FB06-6247-5231F45F4B5A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939C856E-F241-51DE-379C-0351B0163E86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AC668097-275B-5015-48B0-EBA606D4813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FEBBD8B5-1D20-CC02-AEAB-23493FE2EB5D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2051133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Storage Category Filter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DF795AC-3A23-2AF6-E3CF-EA444FF1055D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3BD620B-E486-8219-625F-894485F56E38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FA1AF5C-EF77-C079-7DA2-2AEC30E38431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FAC7474-FD21-47BC-07B0-C684F44B2936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2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D817DC40-AE22-7499-B1AF-2897F1FBDC35}"/>
              </a:ext>
            </a:extLst>
          </p:cNvPr>
          <p:cNvSpPr txBox="1"/>
          <p:nvPr/>
        </p:nvSpPr>
        <p:spPr>
          <a:xfrm>
            <a:off x="1083669" y="5634876"/>
            <a:ext cx="9660532" cy="504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is the original page of the detail page, very basic.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65A768D-E2CA-4EA8-9CDF-6D19B97EC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5573" y="5032"/>
            <a:ext cx="46291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14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FA5C-8EFF-3879-7E83-C2A0ACB0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058F09-9990-29CB-76F4-1601C644FAC5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F99EE70B-88EE-8ACD-1CAE-AA6C32E26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CB799BA-5CC2-B589-48F2-29D463C4BE3E}"/>
              </a:ext>
            </a:extLst>
          </p:cNvPr>
          <p:cNvGrpSpPr/>
          <p:nvPr/>
        </p:nvGrpSpPr>
        <p:grpSpPr>
          <a:xfrm>
            <a:off x="1082232" y="2959251"/>
            <a:ext cx="8567316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1F0055C-E17D-6E60-00F0-E70DF14EEC20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7796125-DF20-1B65-0E6C-2DC471C3720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5BC57F6D-BF41-10ED-3E91-4AD7A7EF05D5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6C11EA2-7523-4B44-8A8E-C232C2A663DA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DB508AA-B385-2D60-C0A3-420B4DFFFAE4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F1205F7-CFC7-1CD3-447B-E2920A8C490E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EF17DE19-D7AD-F385-6D6F-EB8C8DA1F219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FED5FD26-CDB1-0F7D-6AA9-4E0F54A3291B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C63E1AF2-DF5C-692A-7ABE-06D801E3EA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1B3C8B0-AE6D-ED77-912C-AB6E72A9BC4B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41B5F06-1184-6A35-A578-E0FED0806369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405335" cy="647346"/>
                <a:chOff x="3492152" y="3042863"/>
                <a:chExt cx="12405335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B2B08C11-94AC-EB65-90A3-42174382616B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8EACD057-78BE-A99C-3049-3EDD82F72F10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31A61EC9-7766-1976-741A-899EF450E46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79FCCBD4-9D52-E9B9-8EF2-D386723B8DE1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2051133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Storage Category Filter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18A755A-2818-00C9-A57A-35DAB135CC51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ABE6897-76A0-2240-042B-29E9220262B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26A4181-90BB-3F3C-0AA0-09C43700F7ED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8CAA4A6-92BF-6B1F-F2E2-7E099856665F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2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62DEB7C3-BA88-B5C3-BDC1-892D7CBC9396}"/>
              </a:ext>
            </a:extLst>
          </p:cNvPr>
          <p:cNvSpPr txBox="1"/>
          <p:nvPr/>
        </p:nvSpPr>
        <p:spPr>
          <a:xfrm>
            <a:off x="1082231" y="5060769"/>
            <a:ext cx="9660532" cy="1581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Added category tabs in the Digital Fridge Display page, allowing users to filter and view ingredients by category easily.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E9FBDCB-3502-ED82-5EBA-CF565AD6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955" y="6791"/>
            <a:ext cx="4629150" cy="10287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2786224-1DCF-5531-6C9E-0E9A95DA9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6453" y="0"/>
            <a:ext cx="46291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9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0B3A-4DA9-DA22-C6C7-4163CF9A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EF0FC0-871B-4C4A-78B1-6CC6C1FE3FE6}"/>
              </a:ext>
            </a:extLst>
          </p:cNvPr>
          <p:cNvGrpSpPr/>
          <p:nvPr/>
        </p:nvGrpSpPr>
        <p:grpSpPr>
          <a:xfrm>
            <a:off x="0" y="254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CDD13BA-6B89-8880-307A-D1EA72E0A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C13768E-E612-C25A-1936-1D289D797CFF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D04DD80-95F4-94C6-21E2-0BEEB0552D9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30F6602-44F3-CD5E-41E6-7CBD4002D1F1}"/>
              </a:ext>
            </a:extLst>
          </p:cNvPr>
          <p:cNvGrpSpPr/>
          <p:nvPr/>
        </p:nvGrpSpPr>
        <p:grpSpPr>
          <a:xfrm>
            <a:off x="9846751" y="4123858"/>
            <a:ext cx="7315202" cy="3036260"/>
            <a:chOff x="7890248" y="3751468"/>
            <a:chExt cx="6553202" cy="577755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F34DEAA-5890-9C83-26D8-AE533D307F78}"/>
                </a:ext>
              </a:extLst>
            </p:cNvPr>
            <p:cNvGrpSpPr/>
            <p:nvPr/>
          </p:nvGrpSpPr>
          <p:grpSpPr>
            <a:xfrm>
              <a:off x="12607575" y="9065754"/>
              <a:ext cx="1294068" cy="463268"/>
              <a:chOff x="13016506" y="4734248"/>
              <a:chExt cx="981270" cy="335663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9B051877-29C8-C7C0-4E6A-E9A7265C97F7}"/>
                  </a:ext>
                </a:extLst>
              </p:cNvPr>
              <p:cNvGrpSpPr/>
              <p:nvPr/>
            </p:nvGrpSpPr>
            <p:grpSpPr>
              <a:xfrm>
                <a:off x="13016506" y="4734250"/>
                <a:ext cx="335661" cy="335661"/>
                <a:chOff x="-1274750" y="1187413"/>
                <a:chExt cx="447548" cy="447548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DBEFB65E-3480-EB0C-655B-FBB6023F6FB5}"/>
                    </a:ext>
                  </a:extLst>
                </p:cNvPr>
                <p:cNvSpPr/>
                <p:nvPr/>
              </p:nvSpPr>
              <p:spPr>
                <a:xfrm>
                  <a:off x="-1274750" y="1187413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E92DB96C-2EDF-DB1E-4A7B-F1BBD6A589EE}"/>
                  </a:ext>
                </a:extLst>
              </p:cNvPr>
              <p:cNvGrpSpPr/>
              <p:nvPr/>
            </p:nvGrpSpPr>
            <p:grpSpPr>
              <a:xfrm>
                <a:off x="13357444" y="4734248"/>
                <a:ext cx="335661" cy="335661"/>
                <a:chOff x="-1267597" y="1187411"/>
                <a:chExt cx="447548" cy="447548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780423E8-04F6-8971-DD35-F857EA38E1DD}"/>
                    </a:ext>
                  </a:extLst>
                </p:cNvPr>
                <p:cNvSpPr/>
                <p:nvPr/>
              </p:nvSpPr>
              <p:spPr>
                <a:xfrm>
                  <a:off x="-1267597" y="1187411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76456CE6-A392-2659-C8ED-AA997E0AE1E6}"/>
                  </a:ext>
                </a:extLst>
              </p:cNvPr>
              <p:cNvGrpSpPr/>
              <p:nvPr/>
            </p:nvGrpSpPr>
            <p:grpSpPr>
              <a:xfrm>
                <a:off x="13662115" y="4734249"/>
                <a:ext cx="335661" cy="335661"/>
                <a:chOff x="-1308800" y="1187412"/>
                <a:chExt cx="447548" cy="44754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F0DF655-6740-2745-0793-E473775D63BD}"/>
                    </a:ext>
                  </a:extLst>
                </p:cNvPr>
                <p:cNvSpPr/>
                <p:nvPr/>
              </p:nvSpPr>
              <p:spPr>
                <a:xfrm>
                  <a:off x="-1308800" y="1187412"/>
                  <a:ext cx="447548" cy="447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07044B9-AAFD-C487-95FD-445B220F5A5F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5EE15CD9-5EF7-61C0-E8CB-656C552ACA73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8F19B9FC-6F57-1776-95CD-AA3FDC66C2A3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5852FF6-BE2B-6961-B318-8A1A5B36F4C9}"/>
                  </a:ext>
                </a:extLst>
              </p:cNvPr>
              <p:cNvSpPr txBox="1"/>
              <p:nvPr/>
            </p:nvSpPr>
            <p:spPr>
              <a:xfrm>
                <a:off x="10178708" y="4830548"/>
                <a:ext cx="6259505" cy="50589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Add the category to the tab layout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When clicking different position, the “</a:t>
                </a:r>
                <a:r>
                  <a:rPr lang="en-GB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getStorageCategory</a:t>
                </a: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()” method will be called with different parameters to search for those belong to a category</a:t>
                </a:r>
                <a:endParaRPr lang="en-US" sz="2821" dirty="0">
                  <a:solidFill>
                    <a:srgbClr val="404040"/>
                  </a:solidFill>
                  <a:latin typeface="字由点字典黑 35J"/>
                  <a:ea typeface="字由点字典黑 35J"/>
                  <a:cs typeface="字由点字典黑 35J"/>
                  <a:sym typeface="字由点字典黑 35J"/>
                </a:endParaRP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B699E45-6B17-EA65-0F0F-032C76FB484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2F104A3-64F2-366C-58CD-FD21ACD2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83" y="2019300"/>
            <a:ext cx="7818667" cy="761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21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0338-BDD8-8ED7-FE69-12A0BE24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DC15C3-2FC7-0005-1A93-9E14C1EF5E98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B979ADA-DD7B-4DD2-974C-26155872F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B02CA21-0365-13AA-1B16-B4FEE8FF99CA}"/>
              </a:ext>
            </a:extLst>
          </p:cNvPr>
          <p:cNvGrpSpPr/>
          <p:nvPr/>
        </p:nvGrpSpPr>
        <p:grpSpPr>
          <a:xfrm>
            <a:off x="1082231" y="2946241"/>
            <a:ext cx="9829799" cy="1476196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727CB28-7296-6683-6311-B6B6780438C3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416A4BC-1A98-6D64-04FE-A01368055AFD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E1C4EA5C-3115-5EAA-34CE-406C26C66826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5C960DD5-9A11-62F4-80ED-CA09F0E07A18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A8D5557-7F2A-9F65-639B-4D57399106D2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2D42273-A223-F785-7D46-827A6E93CE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B9612F4-70DE-115D-D9C6-4F4DA095478A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C3F2F06-3FA4-FA5F-C26A-DF86B078E6F5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4FD1FB6C-987D-1CBF-8C37-AC597A5227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A9CF8142-5674-B2AC-35A3-D4D8D880FCC5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4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A78F56C9-BB88-FBFD-2354-CD99973CCE77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1151564" cy="647346"/>
                <a:chOff x="3492152" y="3042863"/>
                <a:chExt cx="1115156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9AA32F56-73EC-59AE-8975-A25B6B007952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E3476D9E-17AA-07D2-12FA-7399CB76637D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AEC8076F-4BCF-30C9-76C3-3FC4DB5B924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3AFF46F7-A5E7-FEBD-B052-B9D28D2B154E}"/>
                    </a:ext>
                  </a:extLst>
                </p:cNvPr>
                <p:cNvSpPr txBox="1"/>
                <p:nvPr/>
              </p:nvSpPr>
              <p:spPr>
                <a:xfrm>
                  <a:off x="3846356" y="3061244"/>
                  <a:ext cx="10797360" cy="55143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UI Refinements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D29E01-811D-7A26-32AD-91EFAD5F5895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A820DAF-6D35-CB2B-98A1-494F7E360D95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B0AD976-B1F8-E998-41CE-4A372C200C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543D5D8-E51F-6717-75D7-E8C4381786D0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E03FABBF-BBF5-C4E7-36CF-7DC769DA58EE}"/>
              </a:ext>
            </a:extLst>
          </p:cNvPr>
          <p:cNvSpPr txBox="1"/>
          <p:nvPr/>
        </p:nvSpPr>
        <p:spPr>
          <a:xfrm>
            <a:off x="1336306" y="4792102"/>
            <a:ext cx="9365600" cy="10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For example, the sizes and format of each page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The bottom bar to switch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DF7D030-AC93-D8A9-58C1-BE91CD105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7048500"/>
            <a:ext cx="4876800" cy="160966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3B9B2DF-0E35-71FD-CE43-6CF40CEE5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717" y="2324100"/>
            <a:ext cx="5995300" cy="2058386"/>
          </a:xfrm>
          <a:prstGeom prst="rect">
            <a:avLst/>
          </a:prstGeom>
        </p:spPr>
      </p:pic>
      <p:sp>
        <p:nvSpPr>
          <p:cNvPr id="28" name="箭头: 下 27">
            <a:extLst>
              <a:ext uri="{FF2B5EF4-FFF2-40B4-BE49-F238E27FC236}">
                <a16:creationId xmlns:a16="http://schemas.microsoft.com/office/drawing/2014/main" id="{2C93988D-038C-01BB-C622-AFB97F441335}"/>
              </a:ext>
            </a:extLst>
          </p:cNvPr>
          <p:cNvSpPr/>
          <p:nvPr/>
        </p:nvSpPr>
        <p:spPr>
          <a:xfrm>
            <a:off x="14173200" y="4686300"/>
            <a:ext cx="1219200" cy="205838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82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20F6-A08E-413B-4DA5-DA357AC5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E6A02-78BB-568F-5114-7F97872CD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B8167D25-6964-0970-3F4D-BF138189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93748"/>
              </p:ext>
            </p:extLst>
          </p:nvPr>
        </p:nvGraphicFramePr>
        <p:xfrm>
          <a:off x="0" y="0"/>
          <a:ext cx="18288000" cy="1026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1066">
                  <a:extLst>
                    <a:ext uri="{9D8B030D-6E8A-4147-A177-3AD203B41FA5}">
                      <a16:colId xmlns:a16="http://schemas.microsoft.com/office/drawing/2014/main" val="374836622"/>
                    </a:ext>
                  </a:extLst>
                </a:gridCol>
                <a:gridCol w="3746934">
                  <a:extLst>
                    <a:ext uri="{9D8B030D-6E8A-4147-A177-3AD203B41FA5}">
                      <a16:colId xmlns:a16="http://schemas.microsoft.com/office/drawing/2014/main" val="3905151838"/>
                    </a:ext>
                  </a:extLst>
                </a:gridCol>
              </a:tblGrid>
              <a:tr h="1348932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Description of Finalized Features/ Improvement</a:t>
                      </a:r>
                      <a:endParaRPr lang="en-IE" sz="2700" dirty="0"/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Progress</a:t>
                      </a:r>
                      <a:endParaRPr lang="en-IE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09451319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dirty="0"/>
                        <a:t>Feature 2 (Newly added):  Automatically decrease the quantity of an ingredient in the digital fridge when it is used in a recipe. 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can click the "USED" button to update quantities or delete items that are completely used.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7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IE" sz="2700" dirty="0"/>
                        <a:t>Done.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514090262"/>
                  </a:ext>
                </a:extLst>
              </a:tr>
              <a:tr h="7132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dirty="0"/>
                        <a:t>Improvement 2: </a:t>
                      </a:r>
                      <a:endParaRPr lang="en-IE" altLang="zh-CN" sz="2700" dirty="0"/>
                    </a:p>
                    <a:p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Enhanced Recipe Detail View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Replaced simple text views with a formatted recycler view for displaying ingredients, each with an "USED" button.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functionality to handle unit conversions to prevent compatibility issues.</a:t>
                      </a:r>
                    </a:p>
                    <a:p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and Edit Recipe Improvements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Modified the create recipe page to require specific quantity and unit for each ingredient.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must select units from predefined options, ensuring compatibility with stored ingredient units.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Updated image selection and upload logic to fit in with the current system.</a:t>
                      </a:r>
                    </a:p>
                    <a:p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 Category Filter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Added category tabs in the Digital Fridge Display page, allowing users to filter and view ingredients by category easily.</a:t>
                      </a:r>
                    </a:p>
                    <a:p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Refinements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Redesigned the bottom page-switching bar based on user preferences.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Consistently adjusted parameters across pages for a uniform style and improved usability.</a:t>
                      </a:r>
                    </a:p>
                    <a:p>
                      <a:endParaRPr lang="en-IE" sz="270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altLang="zh-CN" sz="2700" dirty="0"/>
                        <a:t>Done.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1254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744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0" y="2369910"/>
            <a:ext cx="8455790" cy="9523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4396884" y="2179578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782165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123830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2" name="TextBox 72"/>
          <p:cNvSpPr txBox="1"/>
          <p:nvPr/>
        </p:nvSpPr>
        <p:spPr>
          <a:xfrm>
            <a:off x="5259051" y="2825201"/>
            <a:ext cx="9761758" cy="385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39"/>
              </a:lnSpc>
            </a:pPr>
            <a:r>
              <a:rPr lang="en-US" sz="8449" spc="2816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847</Words>
  <Application>Microsoft Office PowerPoint</Application>
  <PresentationFormat>自定义</PresentationFormat>
  <Paragraphs>100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 Black</vt:lpstr>
      <vt:lpstr>字由点字典黑 45J</vt:lpstr>
      <vt:lpstr>D-DINExp</vt:lpstr>
      <vt:lpstr>字由点字典黑 35J</vt:lpstr>
      <vt:lpstr>字由点字典黑 75J</vt:lpstr>
      <vt:lpstr>Arial</vt:lpstr>
      <vt:lpstr>Calibri</vt:lpstr>
      <vt:lpstr>Arimo</vt:lpstr>
      <vt:lpstr>字由点字典黑 45J Italics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Slides</dc:title>
  <dc:creator>VICTORIA zhu</dc:creator>
  <cp:lastModifiedBy>VICTORIA zhu</cp:lastModifiedBy>
  <cp:revision>29</cp:revision>
  <dcterms:created xsi:type="dcterms:W3CDTF">2006-08-16T00:00:00Z</dcterms:created>
  <dcterms:modified xsi:type="dcterms:W3CDTF">2024-12-01T12:39:51Z</dcterms:modified>
  <dc:identifier>DAGTWDfY6zY</dc:identifier>
</cp:coreProperties>
</file>